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87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097280"/>
            <a:ext cx="3291840" cy="3291840"/>
          </a:xfrm>
          <a:prstGeom prst="ellipse">
            <a:avLst/>
          </a:prstGeom>
          <a:solidFill>
            <a:srgbClr val="4B2E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29800" y="2057400"/>
            <a:ext cx="1371600" cy="1371600"/>
          </a:xfrm>
          <a:prstGeom prst="ellipse">
            <a:avLst/>
          </a:prstGeom>
          <a:solidFill>
            <a:srgbClr val="F05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0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 ·  TOPIC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Written Payment Policy into Executable Rules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36118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9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approach to content management in healthcare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Balaji</a:t>
            </a:r>
            <a:r>
              <a:rPr lang="en-US" sz="1400" dirty="0">
                <a:solidFill>
                  <a:srgbClr val="B7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M.S. in Artificial Intelligence, Yeshiva University  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locked in prose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must turn continuously-updated written policy - from the AMA, CMS, and state Medicaid programs - into executable rules that catch incorrect claims before or after payment.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develops these rules from 100+ policy sources. The hard part is converting prose that changes every quarter into machine-checkable logic without losing fidelity to the source.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892040"/>
            <a:ext cx="777240" cy="777240"/>
          </a:xfrm>
          <a:prstGeom prst="ellipse">
            <a:avLst/>
          </a:prstGeom>
          <a:solidFill>
            <a:srgbClr val="EDE6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50863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7150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E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5138928"/>
            <a:ext cx="457200" cy="2926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14600" y="4892040"/>
            <a:ext cx="777240" cy="777240"/>
          </a:xfrm>
          <a:prstGeom prst="ellipse">
            <a:avLst/>
          </a:prstGeom>
          <a:solidFill>
            <a:srgbClr val="EDE6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910" y="5086350"/>
            <a:ext cx="388620" cy="3886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40280" y="57150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E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583680" y="1828800"/>
            <a:ext cx="2441448" cy="2194560"/>
          </a:xfrm>
          <a:prstGeom prst="roundRect">
            <a:avLst>
              <a:gd name="adj" fmla="val 4167"/>
            </a:avLst>
          </a:prstGeom>
          <a:solidFill>
            <a:srgbClr val="EDE6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583680" y="2148840"/>
            <a:ext cx="2441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5000" dirty="0"/>
          </a:p>
        </p:txBody>
      </p:sp>
      <p:sp>
        <p:nvSpPr>
          <p:cNvPr id="14" name="Text 9"/>
          <p:cNvSpPr/>
          <p:nvPr/>
        </p:nvSpPr>
        <p:spPr>
          <a:xfrm>
            <a:off x="6766560" y="3154680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healthcare spending is administrative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9299448" y="1828800"/>
            <a:ext cx="2441448" cy="2194560"/>
          </a:xfrm>
          <a:prstGeom prst="roundRect">
            <a:avLst>
              <a:gd name="adj" fmla="val 4167"/>
            </a:avLst>
          </a:prstGeom>
          <a:solidFill>
            <a:srgbClr val="EDE6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9299448" y="2148840"/>
            <a:ext cx="2441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$80B</a:t>
            </a:r>
            <a:endParaRPr lang="en-US" sz="5000" dirty="0"/>
          </a:p>
        </p:txBody>
      </p:sp>
      <p:sp>
        <p:nvSpPr>
          <p:cNvPr id="17" name="Text 12"/>
          <p:cNvSpPr/>
          <p:nvPr/>
        </p:nvSpPr>
        <p:spPr>
          <a:xfrm>
            <a:off x="9482328" y="3154680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each year managing administrative transactions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83680" y="411480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CAQH Index, via CVS Health (2026)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trends reshaping payment integrity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CEEC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203704"/>
            <a:ext cx="713232" cy="713232"/>
          </a:xfrm>
          <a:prstGeom prst="ellipse">
            <a:avLst/>
          </a:prstGeom>
          <a:solidFill>
            <a:srgbClr val="4B2E8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3820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3911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pilots to production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24048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shifting from experimentation to enterprise strategy - though most deployments are still early-stage, concentrated in larger enterprises.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828800" y="294436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HealthVerity (2025)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3401568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CEEC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3730752"/>
            <a:ext cx="713232" cy="713232"/>
          </a:xfrm>
          <a:prstGeom prst="ellipse">
            <a:avLst/>
          </a:prstGeom>
          <a:solidFill>
            <a:srgbClr val="4B2E8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3909060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35661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are betting big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828800" y="3931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project a major expansion of the agentic workforce in 2026, and vendors are shipping agentic claims tools - Aetna’s CAM reports 20%+ faster processing.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828800" y="44714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Health / Gartner (2026); CVS Health (2026)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4928616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CEEC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68680" y="5257800"/>
            <a:ext cx="713232" cy="713232"/>
          </a:xfrm>
          <a:prstGeom prst="ellipse">
            <a:avLst/>
          </a:prstGeom>
          <a:solidFill>
            <a:srgbClr val="4B2E8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" y="5436108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509320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differentiator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828800" y="54589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systems keep agent logic visible and auditable, and augment human experts rather than replace them - a stance Cotiviti itself takes.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828800" y="59984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HealthVerity (2025); Cohere Health (2026)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&amp; threats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7CEEC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731520" cy="731520"/>
          </a:xfrm>
          <a:prstGeom prst="ellipse">
            <a:avLst/>
          </a:prstGeom>
          <a:solidFill>
            <a:srgbClr val="1A7F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377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rule authoring and maintenance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time from policy publication to deployed rule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lower-volume policies economical to encode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Citation-backed rationales reduce provider abrasion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19672" y="1828800"/>
            <a:ext cx="51206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7CEEC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85432" y="2194560"/>
            <a:ext cx="731520" cy="731520"/>
          </a:xfrm>
          <a:prstGeom prst="ellipse">
            <a:avLst/>
          </a:prstGeom>
          <a:solidFill>
            <a:srgbClr val="B873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377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99832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931152" y="297180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fabricate citations or misread policy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Unfounded denials drive appeals and regulatory risk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governance, validation, and oversight bar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and quarterly edit churn demand revalidation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payment-policy auditor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6E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NCCI policy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2999232" cy="1783080"/>
          </a:xfrm>
          <a:prstGeom prst="roundRect">
            <a:avLst>
              <a:gd name="adj" fmla="val 4615"/>
            </a:avLst>
          </a:prstGeom>
          <a:solidFill>
            <a:srgbClr val="EDE6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487168" y="2194560"/>
            <a:ext cx="768096" cy="768096"/>
          </a:xfrm>
          <a:prstGeom prst="ellipse">
            <a:avLst/>
          </a:prstGeom>
          <a:solidFill>
            <a:srgbClr val="4B2E8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23865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999232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PolicyCompilerAgent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33101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written policy into structured, executable rules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743200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00016" y="2011680"/>
            <a:ext cx="2999232" cy="1783080"/>
          </a:xfrm>
          <a:prstGeom prst="roundRect">
            <a:avLst>
              <a:gd name="adj" fmla="val 4615"/>
            </a:avLst>
          </a:prstGeom>
          <a:solidFill>
            <a:srgbClr val="EDE6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815584" y="2194560"/>
            <a:ext cx="768096" cy="768096"/>
          </a:xfrm>
          <a:prstGeom prst="ellipse">
            <a:avLst/>
          </a:prstGeom>
          <a:solidFill>
            <a:srgbClr val="4B2E8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608" y="23865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37176" y="2999232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AuditorAgent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928616" y="33101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each claim: PASS / FAIL / NEEDS REVIEW, with a citation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6" y="2743200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028432" y="2011680"/>
            <a:ext cx="2999232" cy="1783080"/>
          </a:xfrm>
          <a:prstGeom prst="roundRect">
            <a:avLst>
              <a:gd name="adj" fmla="val 4615"/>
            </a:avLst>
          </a:prstGeom>
          <a:solidFill>
            <a:srgbClr val="EDE6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9144000" y="2194560"/>
            <a:ext cx="768096" cy="768096"/>
          </a:xfrm>
          <a:prstGeom prst="ellipse">
            <a:avLst/>
          </a:prstGeom>
          <a:solidFill>
            <a:srgbClr val="4B2E8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024" y="2386584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65592" y="2999232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CriticAgent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8257032" y="33101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verifies grounding and consistency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11119104" y="2423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48640" y="425196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7CEEC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896112" y="4553712"/>
            <a:ext cx="676656" cy="676656"/>
          </a:xfrm>
          <a:prstGeom prst="ellipse">
            <a:avLst/>
          </a:prstGeom>
          <a:solidFill>
            <a:srgbClr val="F05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809" y="4736409"/>
            <a:ext cx="311262" cy="31126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755648" y="4590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guardrail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1755648" y="49834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citation must appear verbatim in the source policy. Fabricated citations are rejected before anything is trusted.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199632" y="425196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7CEEC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6547104" y="4553712"/>
            <a:ext cx="676656" cy="676656"/>
          </a:xfrm>
          <a:prstGeom prst="ellipse">
            <a:avLst/>
          </a:prstGeom>
          <a:solidFill>
            <a:srgbClr val="F05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9801" y="4736409"/>
            <a:ext cx="311262" cy="31126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06640" y="4590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Escalate-on-doubt</a:t>
            </a:r>
            <a:endParaRPr lang="en-US" sz="1600" dirty="0"/>
          </a:p>
        </p:txBody>
      </p:sp>
      <p:sp>
        <p:nvSpPr>
          <p:cNvPr id="32" name="Text 23"/>
          <p:cNvSpPr/>
          <p:nvPr/>
        </p:nvSpPr>
        <p:spPr>
          <a:xfrm>
            <a:off x="7406640" y="49834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cases route to human reviewers—the system flags, it never silently auto-denies.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15184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CEEC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CLM-1001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80053 + 80048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2249424" cy="457200"/>
          </a:xfrm>
          <a:prstGeom prst="roundRect">
            <a:avLst>
              <a:gd name="adj" fmla="val 12000"/>
            </a:avLst>
          </a:prstGeom>
          <a:solidFill>
            <a:srgbClr val="BE3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Unbundling — indicator 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2615184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CEEC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20574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CLM-1002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239572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93000 + 93005 (59)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788920"/>
            <a:ext cx="2249424" cy="457200"/>
          </a:xfrm>
          <a:prstGeom prst="roundRect">
            <a:avLst>
              <a:gd name="adj" fmla="val 12000"/>
            </a:avLst>
          </a:prstGeom>
          <a:solidFill>
            <a:srgbClr val="B873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27889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3375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present — review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874520"/>
            <a:ext cx="2615184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CEEC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20574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CLM-1003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39572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93000 + 93005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788920"/>
            <a:ext cx="2249424" cy="457200"/>
          </a:xfrm>
          <a:prstGeom prst="roundRect">
            <a:avLst>
              <a:gd name="adj" fmla="val 12000"/>
            </a:avLst>
          </a:prstGeom>
          <a:solidFill>
            <a:srgbClr val="BE3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27889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3375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bypass modifier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52560" y="1874520"/>
            <a:ext cx="2615184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CEEC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35440" y="20574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CLM-1004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35440" y="239572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80053 + 99213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235440" y="2788920"/>
            <a:ext cx="2249424" cy="457200"/>
          </a:xfrm>
          <a:prstGeom prst="roundRect">
            <a:avLst>
              <a:gd name="adj" fmla="val 12000"/>
            </a:avLst>
          </a:prstGeom>
          <a:solidFill>
            <a:srgbClr val="1A7F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35440" y="27889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35440" y="33375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edit triggered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2E1A5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60120" y="4617720"/>
            <a:ext cx="914400" cy="914400"/>
          </a:xfrm>
          <a:prstGeom prst="ellipse">
            <a:avLst/>
          </a:prstGeom>
          <a:solidFill>
            <a:srgbClr val="F05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846320"/>
            <a:ext cx="457200" cy="4572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2148840" y="4526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in action</a:t>
            </a:r>
            <a:endParaRPr lang="en-US" sz="1900" dirty="0"/>
          </a:p>
        </p:txBody>
      </p:sp>
      <p:sp>
        <p:nvSpPr>
          <p:cNvPr id="32" name="Text 29"/>
          <p:cNvSpPr/>
          <p:nvPr/>
        </p:nvSpPr>
        <p:spPr>
          <a:xfrm>
            <a:off x="2148840" y="495604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A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fabricated citation is caught: the grounding check returns grounded = No, confidence drops to 0.20, and the decision is escalated rather than trusted. The same demo runs fully offline (mock) or against live Claude.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path for Cotiviti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 agentic compilation + verification layer on top of Payment Policy Management</a:t>
            </a:r>
            <a:r>
              <a:rPr lang="en-US" sz="16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build-and-augment, not replace. Cotiviti’s medical-director-reviewed policy database is the moat; agentic tooling should amplify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511296" cy="2423160"/>
          </a:xfrm>
          <a:prstGeom prst="roundRect">
            <a:avLst>
              <a:gd name="adj" fmla="val 3396"/>
            </a:avLst>
          </a:prstGeom>
          <a:solidFill>
            <a:srgbClr val="EDE6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999232"/>
            <a:ext cx="749808" cy="749808"/>
          </a:xfrm>
          <a:prstGeom prst="ellipse">
            <a:avLst/>
          </a:prstGeom>
          <a:solidFill>
            <a:srgbClr val="4B2E8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3186684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8587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compilation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4224528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carries the verbatim policy span it came from. Rules whose citation can’t be matched are rejected before deployment.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34256" y="2697480"/>
            <a:ext cx="3511296" cy="2423160"/>
          </a:xfrm>
          <a:prstGeom prst="roundRect">
            <a:avLst>
              <a:gd name="adj" fmla="val 3396"/>
            </a:avLst>
          </a:prstGeom>
          <a:solidFill>
            <a:srgbClr val="EDE6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54296" y="2999232"/>
            <a:ext cx="749808" cy="749808"/>
          </a:xfrm>
          <a:prstGeom prst="ellipse">
            <a:avLst/>
          </a:prstGeom>
          <a:solidFill>
            <a:srgbClr val="4B2E8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48" y="3186684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296" y="38587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54296" y="4224528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critic agent checks every decision for contradictions against the cited policy before any claim is touched.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19872" y="2697480"/>
            <a:ext cx="3511296" cy="2423160"/>
          </a:xfrm>
          <a:prstGeom prst="roundRect">
            <a:avLst>
              <a:gd name="adj" fmla="val 3396"/>
            </a:avLst>
          </a:prstGeom>
          <a:solidFill>
            <a:srgbClr val="EDE6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39912" y="2999232"/>
            <a:ext cx="749808" cy="749808"/>
          </a:xfrm>
          <a:prstGeom prst="ellipse">
            <a:avLst/>
          </a:prstGeom>
          <a:solidFill>
            <a:srgbClr val="4B2E8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364" y="3186684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39912" y="38587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1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439912" y="4224528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cases escalate to certified coders and medical directors—preserving the 99.90% accuracy standard.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scope:  </a:t>
            </a:r>
            <a:r>
              <a:rPr lang="en-US" sz="14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 family (NCCI PTP edits); measure rule-authoring time and citation accuracy against the expert baseline before scaling.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1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0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F05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2" y="1658722"/>
            <a:ext cx="340157" cy="3401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4475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isn’t a chatbot that explains policy-it’s an agent that can be trusted to compile and apply it.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F05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2" y="2801722"/>
            <a:ext cx="340157" cy="3401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58775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Grounding, independent verification, and human oversight are what turn a pilot into production value.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F05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2" y="3944722"/>
            <a:ext cx="340157" cy="3401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73075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amplifies Cotiviti’s proprietary policy database-its real, defensible advantage.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5212080"/>
            <a:ext cx="11091672" cy="0"/>
          </a:xfrm>
          <a:prstGeom prst="line">
            <a:avLst/>
          </a:prstGeom>
          <a:noFill/>
          <a:ln w="12700">
            <a:solidFill>
              <a:srgbClr val="5A4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</a:t>
            </a:r>
            <a:r>
              <a:rPr lang="en-US" sz="1500" dirty="0">
                <a:solidFill>
                  <a:srgbClr val="B7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Balaji  ·  M.S. Artificial Intelligence, Yeshiva University  · </a:t>
            </a:r>
            <a:r>
              <a:rPr lang="en-US" sz="1500" dirty="0" err="1">
                <a:solidFill>
                  <a:srgbClr val="B7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vbalaji@mail.yu.edu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694</Words>
  <Application>Microsoft Macintosh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Payment-Policy Auditor</dc:title>
  <dc:subject>PptxGenJS Presentation</dc:subject>
  <dc:creator>Vishal Balaji</dc:creator>
  <cp:lastModifiedBy>Vishal Balaji</cp:lastModifiedBy>
  <cp:revision>2</cp:revision>
  <dcterms:created xsi:type="dcterms:W3CDTF">2026-06-29T03:07:49Z</dcterms:created>
  <dcterms:modified xsi:type="dcterms:W3CDTF">2026-06-29T03:13:41Z</dcterms:modified>
</cp:coreProperties>
</file>